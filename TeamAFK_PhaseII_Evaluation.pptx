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team, project domain, mentor, and responsibilities of each 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major feedback received during Phase-I and how it has been incorporated.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Avoid repeating the full Phase-I presentation — focus on the finalized problem, scope and measurable objectives.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 the updated architecture and explain how individual modules communicate with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what each module does and how it contributes to the complete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the selected technologies are appropriate and how the team is following the development methodology.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where and how each course concept is technically implemented.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Clearly differentiate between completed, in-progress and pending work — do not present proposed work as completed.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Demonstrate the actual working implementation; provide a live demonstration in addition to screenshots wherever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 should be supported by actual testing or experimental evidence rather than assumptions.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repository activity, README, contributor list and commit history during the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Contributions should be specific and verifiable. Avoid generic statements such as 'helped in coding' or 'worked on documentation'.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genuine technical challenges and provide a realistic roadmap for completing the project before Phase-III.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Conclude with the tangible final outcome expected from the project and cite the major technical/research resources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4" Type="http://schemas.openxmlformats.org/officeDocument/2006/relationships/hyperlink" Target="https://github.com/ayushirautela123/Simulator-for-Path-Planning-of-Multi-Agent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228600"/>
            <a:ext cx="11734495" cy="6400800"/>
          </a:xfrm>
          <a:prstGeom prst="rect">
            <a:avLst/>
          </a:prstGeom>
          <a:ln w="15875">
            <a:solidFill>
              <a:srgbClr val="1C3D68"/>
            </a:solidFill>
            <a:prstDash val="solid"/>
          </a:ln>
        </p:spPr>
        <p:txBody>
          <a:bodyPr/>
          <a:p/>
        </p:txBody>
      </p:sp>
      <p:pic>
        <p:nvPicPr>
          <p:cNvPr id="3" name="Image 0" descr="/tmp/pbl2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2704" y="68580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1920240"/>
            <a:ext cx="9445752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PROJECT-BASED LEARNING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2423160"/>
            <a:ext cx="9445752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15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PHASE-II EVALUATION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2971800"/>
            <a:ext cx="9445752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TEAMAFK — SIMULATOR FOR PLANNING PATH OF MULTI-AGENT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3429000"/>
            <a:ext cx="9445752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 + OOP with C++  |  Semester III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813048" y="4114800"/>
            <a:ext cx="4572000" cy="1417320"/>
          </a:xfrm>
          <a:prstGeom prst="roundRect">
            <a:avLst>
              <a:gd name="adj" fmla="val 5161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3813048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ID: DSCPP-III-2026-T238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3813048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Graphic Era (Deemed to be University), Dehradun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813048" y="4846320"/>
            <a:ext cx="45720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5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Session 2026–27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6035040"/>
            <a:ext cx="9445752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 — Graphic Era (Deemed to be University)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92608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MENTOR DETAILS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841248"/>
            <a:ext cx="10744200" cy="16459"/>
          </a:xfrm>
          <a:prstGeom prst="rect">
            <a:avLst/>
          </a:prstGeom>
          <a:solidFill>
            <a:srgbClr val="1C3D68"/>
          </a:solidFill>
          <a:ln w="12700">
            <a:solidFill>
              <a:srgbClr val="1C3D68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tmp/pbl2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4" y="146304"/>
            <a:ext cx="932688" cy="9326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" y="1234440"/>
            <a:ext cx="5074920" cy="1828800"/>
          </a:xfrm>
          <a:prstGeom prst="roundRect">
            <a:avLst>
              <a:gd name="adj" fmla="val 4000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868680" y="13716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Information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1783080"/>
            <a:ext cx="4663440" cy="11887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Team: TeamAFK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ID: DSCPP-III-2026-T238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Semester: III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Domain: DSA + OOP with C++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035040" y="1234440"/>
            <a:ext cx="5486400" cy="1828800"/>
          </a:xfrm>
          <a:prstGeom prst="roundRect">
            <a:avLst>
              <a:gd name="adj" fmla="val 4000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217920" y="13716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1737360"/>
            <a:ext cx="5166360" cy="12801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Ayushi Rautela — Team / Integration Lead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Krishna Mandal — DSA Lead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Suryansh Shah — UI / Testing / Documentation Lead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85800" y="3291840"/>
            <a:ext cx="10835640" cy="1005840"/>
          </a:xfrm>
          <a:prstGeom prst="roundRect">
            <a:avLst>
              <a:gd name="adj" fmla="val 7273"/>
            </a:avLst>
          </a:prstGeom>
          <a:solidFill>
            <a:srgbClr val="F6F9FD"/>
          </a:solidFill>
          <a:ln w="12700">
            <a:solidFill>
              <a:srgbClr val="F6F9F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868680" y="34015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749040"/>
            <a:ext cx="640080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Arnav Kotiyal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3749040"/>
            <a:ext cx="3749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Interactions completed: 4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85800" y="4572000"/>
            <a:ext cx="10835640" cy="1325880"/>
          </a:xfrm>
          <a:prstGeom prst="roundRect">
            <a:avLst>
              <a:gd name="adj" fmla="val 5517"/>
            </a:avLst>
          </a:prstGeom>
          <a:solidFill>
            <a:srgbClr val="F6F9FD"/>
          </a:solidFill>
          <a:ln w="12700">
            <a:solidFill>
              <a:srgbClr val="F6F9FD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868680" y="4709160"/>
            <a:ext cx="10469880" cy="1097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Discussion: TeamAFK is working on a Multi-Agent Path Finding (MAPF) simulator under the DSA + OOP with C++ course track. Ayushi leads overall integration and the OOP architecture; Krishna leads the DSA/algorithmic core (BFS, Dijkstra, A*, hashing-based conflict detection); Suryansh leads the UI, test design, and documentation. Mr. Arnav Kotiyal has reviewed the architecture and Phase-I deliverables over 4 mentor interactions and is guiding the Phase-II build-out.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13232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 — GRAPHIC ERA (DEEMED TO BE UNIVERSITY)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11018520" y="6483096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92608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PHASE-I RECAP &amp; FEEDBACK INCORPORATED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841248"/>
            <a:ext cx="10744200" cy="16459"/>
          </a:xfrm>
          <a:prstGeom prst="rect">
            <a:avLst/>
          </a:prstGeom>
          <a:solidFill>
            <a:srgbClr val="1C3D68"/>
          </a:solidFill>
          <a:ln w="12700">
            <a:solidFill>
              <a:srgbClr val="1C3D68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tmp/pbl2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4" y="146304"/>
            <a:ext cx="932688" cy="9326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" y="1234440"/>
            <a:ext cx="10835640" cy="1005840"/>
          </a:xfrm>
          <a:prstGeom prst="roundRect">
            <a:avLst>
              <a:gd name="adj" fmla="val 7273"/>
            </a:avLst>
          </a:prstGeom>
          <a:solidFill>
            <a:srgbClr val="F6F9FD"/>
          </a:solidFill>
          <a:ln w="12700">
            <a:solidFill>
              <a:srgbClr val="F6F9F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868680" y="13441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Phase-I Status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1664208"/>
            <a:ext cx="1046988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Phase-I finalized the project problem, architecture, and scope: a grid/graph-based multi-agent simulator comparing BFS, Dijkstra and A*, with hashing-based conflict detection and priority/reroute/replan-based resolution, built in C++/OOP with a UI front end.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85800" y="2423160"/>
            <a:ext cx="5257800" cy="3291840"/>
          </a:xfrm>
          <a:prstGeom prst="roundRect">
            <a:avLst>
              <a:gd name="adj" fmla="val 2222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868680" y="25603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Received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971800"/>
            <a:ext cx="4892040" cy="2651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 exactly how conflicts are detected — distinguish vertex (same-cell) conflicts from edge/swap (crossing-path) conflicts.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Tighten the system architecture diagram to show explicit data flow between modules, including persistence/storage.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 the choice of BFS, Dijkstra and A* with a comparative complexity/performance view, not just a list of algorithms.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172200" y="242316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355080" y="25603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Incorporated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2971800"/>
            <a:ext cx="4983480" cy="2651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vertex and edge/swap conflicts explicitly, detected via a hash set keyed on (cell, time-step).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Restructured the architecture into Input, Processing, Core Logic, Database and Output layers (see next slides) with clearer module boundaries.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 complexity comparison for BFS, Dijkstra and A* and benchmarked them on sample grids.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13232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 — GRAPHIC ERA (DEEMED TO BE UNIVERSITY)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11018520" y="6483096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92608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FINALIZED OBJECTIVES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841248"/>
            <a:ext cx="10744200" cy="16459"/>
          </a:xfrm>
          <a:prstGeom prst="rect">
            <a:avLst/>
          </a:prstGeom>
          <a:solidFill>
            <a:srgbClr val="1C3D68"/>
          </a:solidFill>
          <a:ln w="12700">
            <a:solidFill>
              <a:srgbClr val="1C3D68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tmp/pbl2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4" y="146304"/>
            <a:ext cx="932688" cy="9326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" y="1234440"/>
            <a:ext cx="10835640" cy="1188720"/>
          </a:xfrm>
          <a:prstGeom prst="roundRect">
            <a:avLst>
              <a:gd name="adj" fmla="val 6154"/>
            </a:avLst>
          </a:prstGeom>
          <a:solidFill>
            <a:srgbClr val="F6F9FD"/>
          </a:solidFill>
          <a:ln w="12700">
            <a:solidFill>
              <a:srgbClr val="F6F9F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868680" y="13441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1691640"/>
            <a:ext cx="1046988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real-world environments such as traffic networks, warehouses, airports, drone systems and robotic factories, multiple autonomous agents must move simultaneously to different destinations without colliding, while using shared space efficiently. Single-agent pathfinding alone cannot guarantee this once multiple agents share the same grid.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85800" y="2606040"/>
            <a:ext cx="10835640" cy="3108960"/>
          </a:xfrm>
          <a:prstGeom prst="roundRect">
            <a:avLst>
              <a:gd name="adj" fmla="val 2353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868680" y="274320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Finalized Objectives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108960"/>
            <a:ext cx="10332720" cy="2468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multi-agent grid/graph environment and implement BFS, Dijkstra and A* for path planning, with a comparative evaluation of each.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vertex (same-cell) and edge/swap (crossing-path) conflicts between agents using hashing-based lookups at every discrete time step.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conflicts through priority ordering, waiting, local rerouting, and dynamic replanning when a path becomes blocked.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 the simulation and evaluate performance using path length, execution time, conflict count, replanning count and success rate.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85800" y="5852160"/>
            <a:ext cx="10835640" cy="457200"/>
          </a:xfrm>
          <a:prstGeom prst="roundRect">
            <a:avLst>
              <a:gd name="adj" fmla="val 16000"/>
            </a:avLst>
          </a:prstGeom>
          <a:solidFill>
            <a:srgbClr val="F6F9FD"/>
          </a:solidFill>
          <a:ln w="12700">
            <a:solidFill>
              <a:srgbClr val="F6F9F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868680" y="5916168"/>
            <a:ext cx="1046988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objective: demonstrate meaningful, working integration of DSA and OOP concepts in one practical multi-agent simulator.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713232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 — GRAPHIC ERA (DEEMED TO BE UNIVERSITY)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1018520" y="6483096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92608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SYSTEM ARCHITECTURE / WORKFLOW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841248"/>
            <a:ext cx="10744200" cy="16459"/>
          </a:xfrm>
          <a:prstGeom prst="rect">
            <a:avLst/>
          </a:prstGeom>
          <a:solidFill>
            <a:srgbClr val="1C3D68"/>
          </a:solidFill>
          <a:ln w="12700">
            <a:solidFill>
              <a:srgbClr val="1C3D68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tmp/pbl2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4" y="146304"/>
            <a:ext cx="932688" cy="9326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" y="1371600"/>
            <a:ext cx="1819656" cy="1234440"/>
          </a:xfrm>
          <a:prstGeom prst="roundRect">
            <a:avLst>
              <a:gd name="adj" fmla="val 5926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685800" y="1481328"/>
            <a:ext cx="1819656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20240"/>
            <a:ext cx="172821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Map, obstacles,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starts &amp; goals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2505456" y="1783080"/>
            <a:ext cx="320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15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825496" y="1371600"/>
            <a:ext cx="1819656" cy="1234440"/>
          </a:xfrm>
          <a:prstGeom prst="roundRect">
            <a:avLst>
              <a:gd name="adj" fmla="val 5926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2825496" y="1481328"/>
            <a:ext cx="1819656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871216" y="1920240"/>
            <a:ext cx="172821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(BFS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/ A*)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645152" y="1783080"/>
            <a:ext cx="320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15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965192" y="1371600"/>
            <a:ext cx="1819656" cy="1234440"/>
          </a:xfrm>
          <a:prstGeom prst="roundRect">
            <a:avLst>
              <a:gd name="adj" fmla="val 5926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4965192" y="1481328"/>
            <a:ext cx="1819656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010912" y="1920240"/>
            <a:ext cx="172821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detection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(hashing)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784848" y="1783080"/>
            <a:ext cx="320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15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7104888" y="1371600"/>
            <a:ext cx="1819656" cy="1234440"/>
          </a:xfrm>
          <a:prstGeom prst="roundRect">
            <a:avLst>
              <a:gd name="adj" fmla="val 5926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7104888" y="1481328"/>
            <a:ext cx="1819656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150608" y="1920240"/>
            <a:ext cx="172821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storage of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configs &amp; run results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924544" y="1783080"/>
            <a:ext cx="320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15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9244584" y="1371600"/>
            <a:ext cx="1819656" cy="1234440"/>
          </a:xfrm>
          <a:prstGeom prst="roundRect">
            <a:avLst>
              <a:gd name="adj" fmla="val 5926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9244584" y="1481328"/>
            <a:ext cx="1819656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9290304" y="1920240"/>
            <a:ext cx="1728216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 +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685800" y="2880360"/>
            <a:ext cx="10835640" cy="457200"/>
          </a:xfrm>
          <a:prstGeom prst="roundRect">
            <a:avLst>
              <a:gd name="adj" fmla="val 16000"/>
            </a:avLst>
          </a:prstGeom>
          <a:solidFill>
            <a:srgbClr val="F6F9FD"/>
          </a:solidFill>
          <a:ln w="12700">
            <a:solidFill>
              <a:srgbClr val="F6F9FD"/>
            </a:solidFill>
            <a:prstDash val="solid"/>
          </a:ln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868680" y="2944368"/>
            <a:ext cx="1046988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18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ML module (future scope) → congestion / dynamic movement-cost estimation, feeding back into Processing.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85800" y="356616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 txBox="1"/>
          <p:nvPr/>
        </p:nvSpPr>
        <p:spPr>
          <a:xfrm>
            <a:off x="868680" y="367588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Components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68680" y="4041648"/>
            <a:ext cx="489204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&amp; Graph Builder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Multi-Algorithm Path Planner (BFS / Dijkstra / A*)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Detection &amp; Resolution Engine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 &amp; Metrics Dashboard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172200" y="3566160"/>
            <a:ext cx="5349240" cy="2103120"/>
          </a:xfrm>
          <a:prstGeom prst="roundRect">
            <a:avLst>
              <a:gd name="adj" fmla="val 3478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30" name="Text 27"/>
          <p:cNvSpPr txBox="1"/>
          <p:nvPr/>
        </p:nvSpPr>
        <p:spPr>
          <a:xfrm>
            <a:off x="6355080" y="367588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Since Phase-I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6355080" y="4041648"/>
            <a:ext cx="498348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an explicit Database/persistence layer for saving &amp; loading grid configs and run results via file handling.</a:t>
            </a:r>
            <a:endParaRPr lang="en-US" sz="100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Separated Conflict Detection &amp; Resolution into its own dedicated module (previously folded into Coordination).</a:t>
            </a:r>
            <a:endParaRPr lang="en-US" sz="100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checks now run per time-step before a move is committed, not after.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85800" y="5806440"/>
            <a:ext cx="10835640" cy="548640"/>
          </a:xfrm>
          <a:prstGeom prst="roundRect">
            <a:avLst>
              <a:gd name="adj" fmla="val 13333"/>
            </a:avLst>
          </a:prstGeom>
          <a:solidFill>
            <a:srgbClr val="F6F9FD"/>
          </a:solidFill>
          <a:ln w="12700">
            <a:solidFill>
              <a:srgbClr val="F6F9FD"/>
            </a:solidFill>
            <a:prstDash val="solid"/>
          </a:ln>
        </p:spPr>
        <p:txBody>
          <a:bodyPr/>
          <a:p/>
        </p:txBody>
      </p:sp>
      <p:sp>
        <p:nvSpPr>
          <p:cNvPr id="33" name="Text 30"/>
          <p:cNvSpPr txBox="1"/>
          <p:nvPr/>
        </p:nvSpPr>
        <p:spPr>
          <a:xfrm>
            <a:off x="868680" y="5897880"/>
            <a:ext cx="10469880" cy="411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Dependency: Planning depends on the Environment/Grid; Conflict Detection depends on Planning + Coordination output; Visualization depends on all upstream module state each time step.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713232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 — GRAPHIC ERA (DEEMED TO BE UNIVERSITY)</a:t>
            </a:r>
            <a:endParaRPr lang="en-US" sz="800" dirty="0"/>
          </a:p>
        </p:txBody>
      </p:sp>
      <p:sp>
        <p:nvSpPr>
          <p:cNvPr id="35" name="Text 32"/>
          <p:cNvSpPr txBox="1"/>
          <p:nvPr/>
        </p:nvSpPr>
        <p:spPr>
          <a:xfrm>
            <a:off x="11018520" y="6483096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92608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DESIGN &amp; FUNCTIONAL REQUIREMENTS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841248"/>
            <a:ext cx="10744200" cy="16459"/>
          </a:xfrm>
          <a:prstGeom prst="rect">
            <a:avLst/>
          </a:prstGeom>
          <a:solidFill>
            <a:srgbClr val="1C3D68"/>
          </a:solidFill>
          <a:ln w="12700">
            <a:solidFill>
              <a:srgbClr val="1C3D68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tmp/pbl2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4" y="146304"/>
            <a:ext cx="932688" cy="9326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" y="1234440"/>
            <a:ext cx="5257800" cy="2743200"/>
          </a:xfrm>
          <a:prstGeom prst="roundRect">
            <a:avLst>
              <a:gd name="adj" fmla="val 2667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868680" y="13716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Modules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1783080"/>
            <a:ext cx="4892040" cy="2103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2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Grid Module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2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Planning Module (BFS / Dijkstra / A*)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2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Detection &amp; Resolution Module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2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 &amp; Metrics Module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72200" y="1234440"/>
            <a:ext cx="5349240" cy="2743200"/>
          </a:xfrm>
          <a:prstGeom prst="roundRect">
            <a:avLst>
              <a:gd name="adj" fmla="val 2667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355080" y="13716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5080" y="1783080"/>
            <a:ext cx="4983480" cy="2103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Parse/validate grid configuration files; report errors via exceptions.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and compare BFS, Dijkstra and A* paths per agent.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vertex/edge conflicts each time step via hashing.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via priority, wait, reroute, or dynamic replan.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grid/agents/paths and display live metrics.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4160520"/>
            <a:ext cx="10835640" cy="2148840"/>
          </a:xfrm>
          <a:prstGeom prst="roundRect">
            <a:avLst>
              <a:gd name="adj" fmla="val 3404"/>
            </a:avLst>
          </a:prstGeom>
          <a:solidFill>
            <a:srgbClr val="F6F9FD"/>
          </a:solidFill>
          <a:ln w="12700">
            <a:solidFill>
              <a:srgbClr val="F6F9F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868680" y="427939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Dependency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663440"/>
            <a:ext cx="1046988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Environment/Grid Module is the foundation all other modules read from. The Path Planning Module depends on the Environment/Grid's graph representation. The Conflict Detection &amp; Resolution Module depends on Path Planning's candidate routes and the Coordination step's per-time-step agent positions. The Visualization &amp; Metrics Module depends on the current state of every upstream module at each time step, since it renders positions, paths, and collisions, and aggregates the final performance metrics.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13232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 — GRAPHIC ERA (DEEMED TO BE UNIVERSITY)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11018520" y="6483096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92608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 &amp; DEVELOPMENT METHODOLOGY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841248"/>
            <a:ext cx="10744200" cy="16459"/>
          </a:xfrm>
          <a:prstGeom prst="rect">
            <a:avLst/>
          </a:prstGeom>
          <a:solidFill>
            <a:srgbClr val="1C3D68"/>
          </a:solidFill>
          <a:ln w="12700">
            <a:solidFill>
              <a:srgbClr val="1C3D68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tmp/pbl2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4" y="146304"/>
            <a:ext cx="932688" cy="9326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" y="1234440"/>
            <a:ext cx="5257800" cy="3291840"/>
          </a:xfrm>
          <a:prstGeom prst="roundRect">
            <a:avLst>
              <a:gd name="adj" fmla="val 2222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868680" y="13716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68680" y="1783080"/>
          <a:ext cx="4892040" cy="2606040"/>
        </p:xfrm>
        <a:graphic>
          <a:graphicData uri="http://schemas.openxmlformats.org/drawingml/2006/table">
            <a:tbl>
              <a:tblPr/>
              <a:tblGrid>
                <a:gridCol w="1554480"/>
                <a:gridCol w="333756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3D68"/>
                          </a:solidFill>
                        </a:rPr>
                        <a:t>Programming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D37"/>
                          </a:solidFill>
                        </a:rPr>
                        <a:t>C++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BF2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3D68"/>
                          </a:solidFill>
                        </a:rPr>
                        <a:t>UI Framework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D37"/>
                          </a:solidFill>
                        </a:rPr>
                        <a:t>Qt (target desktop UI); HTML-based interactive frontend (current prototype)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BF2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3D68"/>
                          </a:solidFill>
                        </a:rPr>
                        <a:t>Data Structures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D37"/>
                          </a:solidFill>
                        </a:rPr>
                        <a:t>Graphs, Queues, Priority Queues, Sets/Hashing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BF2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3D68"/>
                          </a:solidFill>
                        </a:rPr>
                        <a:t>Persistence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D37"/>
                          </a:solidFill>
                        </a:rPr>
                        <a:t>Local file storage (C++ fstream, no external RDBMS)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BF2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3D68"/>
                          </a:solidFill>
                        </a:rPr>
                        <a:t>Development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D37"/>
                          </a:solidFill>
                        </a:rPr>
                        <a:t>VS Code / Qt Creator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BF2F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C3D68"/>
                          </a:solidFill>
                        </a:rPr>
                        <a:t>Version Control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BF2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D37"/>
                          </a:solidFill>
                        </a:rPr>
                        <a:t>Git / GitHub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BF2FA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172200" y="123444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9" name="Text 5"/>
          <p:cNvSpPr txBox="1"/>
          <p:nvPr/>
        </p:nvSpPr>
        <p:spPr>
          <a:xfrm>
            <a:off x="6355080" y="137160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Methodology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6355080" y="1783080"/>
            <a:ext cx="4983480" cy="2651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3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Requirement Analysis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3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System Design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3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Module Development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3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Integration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3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Testing &amp; Validation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85800" y="4709160"/>
            <a:ext cx="10835640" cy="1005840"/>
          </a:xfrm>
          <a:prstGeom prst="roundRect">
            <a:avLst>
              <a:gd name="adj" fmla="val 7273"/>
            </a:avLst>
          </a:prstGeom>
          <a:solidFill>
            <a:srgbClr val="F6F9FD"/>
          </a:solidFill>
          <a:ln w="12700">
            <a:solidFill>
              <a:srgbClr val="F6F9FD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 txBox="1"/>
          <p:nvPr/>
        </p:nvSpPr>
        <p:spPr>
          <a:xfrm>
            <a:off x="868680" y="4846320"/>
            <a:ext cx="1046988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gives fine-grained control over the data structures and performance needed for real-time simulation; the UI layer supplies the canvas and controls for the interactive simulator. The five-stage methodology enforces discipline: implementation does not start until requirements and design are settled, and a module is not called done until it is tested.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713232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 — GRAPHIC ERA (DEEMED TO BE UNIVERSITY)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11018520" y="6483096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7/15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92608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OF PBL COURSE CONCEPTS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841248"/>
            <a:ext cx="10744200" cy="16459"/>
          </a:xfrm>
          <a:prstGeom prst="rect">
            <a:avLst/>
          </a:prstGeom>
          <a:solidFill>
            <a:srgbClr val="1C3D68"/>
          </a:solidFill>
          <a:ln w="12700">
            <a:solidFill>
              <a:srgbClr val="1C3D68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tmp/pbl2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4" y="146304"/>
            <a:ext cx="932688" cy="932688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71600"/>
          <a:ext cx="10835640" cy="3291840"/>
        </p:xfrm>
        <a:graphic>
          <a:graphicData uri="http://schemas.openxmlformats.org/drawingml/2006/table">
            <a:tbl>
              <a:tblPr/>
              <a:tblGrid>
                <a:gridCol w="3017520"/>
                <a:gridCol w="4343400"/>
                <a:gridCol w="3474720"/>
              </a:tblGrid>
              <a:tr h="47026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Course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Concepts Actually Implemented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6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Project Module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68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62D37"/>
                          </a:solidFill>
                        </a:rPr>
                        <a:t>Data Structures in C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D37"/>
                          </a:solidFill>
                        </a:rPr>
                        <a:t>Arrays / Matrices, Graphs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D37"/>
                          </a:solidFill>
                        </a:rPr>
                        <a:t>Grid + Environment Model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62D37"/>
                          </a:solidFill>
                        </a:rPr>
                        <a:t>Data Structures in C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D37"/>
                          </a:solidFill>
                        </a:rPr>
                        <a:t>Queues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D37"/>
                          </a:solidFill>
                        </a:rPr>
                        <a:t>BFS Traversal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62D37"/>
                          </a:solidFill>
                        </a:rPr>
                        <a:t>Data Structures in C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D37"/>
                          </a:solidFill>
                        </a:rPr>
                        <a:t>Priority Queues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D37"/>
                          </a:solidFill>
                        </a:rPr>
                        <a:t>Dijkstra and A*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62D37"/>
                          </a:solidFill>
                        </a:rPr>
                        <a:t>Data Structures in C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D37"/>
                          </a:solidFill>
                        </a:rPr>
                        <a:t>Sets / Hashing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D37"/>
                          </a:solidFill>
                        </a:rPr>
                        <a:t>Conflict Checking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62D37"/>
                          </a:solidFill>
                        </a:rPr>
                        <a:t>OOPs with C++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D37"/>
                          </a:solidFill>
                        </a:rPr>
                        <a:t>Classes, Objects, Modular Design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D37"/>
                          </a:solidFill>
                        </a:rPr>
                        <a:t>Application Architecture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62D37"/>
                          </a:solidFill>
                        </a:rPr>
                        <a:t>OOPs with C++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D37"/>
                          </a:solidFill>
                        </a:rPr>
                        <a:t>Exceptions / File Handling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62D37"/>
                          </a:solidFill>
                        </a:rPr>
                        <a:t>Robustness + Local Data Persistence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85800" y="4846320"/>
            <a:ext cx="10835640" cy="502920"/>
          </a:xfrm>
          <a:prstGeom prst="roundRect">
            <a:avLst>
              <a:gd name="adj" fmla="val 14545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 txBox="1"/>
          <p:nvPr/>
        </p:nvSpPr>
        <p:spPr>
          <a:xfrm>
            <a:off x="868680" y="4937760"/>
            <a:ext cx="1046988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buNone/>
            </a:pPr>
            <a:r>
              <a:rPr lang="en-US" sz="1000" b="1" i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Important: only course concepts actually implemented in the project are listed above — no OS or DBMS concepts are used, since this project's scope is DSA + OOP with C++.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713232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 — GRAPHIC ERA (DEEMED TO BE UNIVERSITY)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11018520" y="6483096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92608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&amp; IMPLEMENTATION PROGRESS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841248"/>
            <a:ext cx="10744200" cy="16459"/>
          </a:xfrm>
          <a:prstGeom prst="rect">
            <a:avLst/>
          </a:prstGeom>
          <a:solidFill>
            <a:srgbClr val="1C3D68"/>
          </a:solidFill>
          <a:ln w="12700">
            <a:solidFill>
              <a:srgbClr val="1C3D68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tmp/pbl2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4" y="146304"/>
            <a:ext cx="932688" cy="932688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71600"/>
          <a:ext cx="10835640" cy="356616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644652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Module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Work Completed</a:t>
                      </a:r>
                      <a:endParaRPr lang="en-US" sz="110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6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D37"/>
                          </a:solidFill>
                        </a:rPr>
                        <a:t>Environment / Grid Module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7A3D"/>
                          </a:solidFill>
                        </a:rPr>
                        <a:t>Completed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D37"/>
                          </a:solidFill>
                        </a:rPr>
                        <a:t>Grid parsing, graph representation and static-obstacle handling implemented and unit-tested.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D37"/>
                          </a:solidFill>
                        </a:rPr>
                        <a:t>Path Planning Module (BFS / Dijkstra / A*)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7A3D"/>
                          </a:solidFill>
                        </a:rPr>
                        <a:t>Completed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D37"/>
                          </a:solidFill>
                        </a:rPr>
                        <a:t>All three algorithms implemented for the single-agent case; benchmarked on sample grids.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D37"/>
                          </a:solidFill>
                        </a:rPr>
                        <a:t>Conflict Detection &amp; Resolution Module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8860B"/>
                          </a:solidFill>
                        </a:rPr>
                        <a:t>In Progress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D37"/>
                          </a:solidFill>
                        </a:rPr>
                        <a:t>Hashing-based vertex/edge conflict detection and priority-based resolution implemented; dynamic replanning under active development.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D37"/>
                          </a:solidFill>
                        </a:rPr>
                        <a:t>Visualization &amp; Metrics Module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8860B"/>
                          </a:solidFill>
                        </a:rPr>
                        <a:t>In Progress</a:t>
                      </a:r>
                      <a:endParaRPr lang="en-US" sz="10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D37"/>
                          </a:solidFill>
                        </a:rPr>
                        <a:t>Interactive HTML frontend prototype renders the grid, agents, paths, conflict overlay and live metrics (see slide 10); final desktop UI integration and full metrics dashboard planned for Phase-III.</a:t>
                      </a:r>
                      <a:endParaRPr lang="en-US" sz="950" dirty="0"/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85800" y="5166360"/>
            <a:ext cx="10835640" cy="548640"/>
          </a:xfrm>
          <a:prstGeom prst="roundRect">
            <a:avLst>
              <a:gd name="adj" fmla="val 13333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 txBox="1"/>
          <p:nvPr/>
        </p:nvSpPr>
        <p:spPr>
          <a:xfrm>
            <a:off x="868680" y="5285232"/>
            <a:ext cx="1046988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Project Completion: ~60%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713232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 — GRAPHIC ERA (DEEMED TO BE UNIVERSITY)</a:t>
            </a:r>
            <a:endParaRPr lang="en-US" sz="800" dirty="0"/>
          </a:p>
        </p:txBody>
      </p:sp>
      <p:sp>
        <p:nvSpPr>
          <p:cNvPr id="9" name="Text 5"/>
          <p:cNvSpPr txBox="1"/>
          <p:nvPr/>
        </p:nvSpPr>
        <p:spPr>
          <a:xfrm>
            <a:off x="11018520" y="6483096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92608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/ DEMONSTRATION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841248"/>
            <a:ext cx="10744200" cy="16459"/>
          </a:xfrm>
          <a:prstGeom prst="rect">
            <a:avLst/>
          </a:prstGeom>
          <a:solidFill>
            <a:srgbClr val="1C3D68"/>
          </a:solidFill>
          <a:ln w="12700">
            <a:solidFill>
              <a:srgbClr val="1C3D68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tmp/pbl2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4" y="146304"/>
            <a:ext cx="932688" cy="9326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" y="1371600"/>
            <a:ext cx="5120640" cy="4114800"/>
          </a:xfrm>
          <a:prstGeom prst="roundRect">
            <a:avLst>
              <a:gd name="adj" fmla="val 1778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868680" y="15087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Features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1920240"/>
            <a:ext cx="4754880" cy="3383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Grid/graph builder reading map, obstacle and agent configs from file.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BFS, Dijkstra and A* producing valid single-agent shortest paths.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Hash-based vertex/edge conflict detection across multiple agents.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Priority-based conflict resolution (wait / reroute) validated on small multi-agent test cases.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frontend prototype: edit walls/agents, choose BFS / Dijkstra / A* and Independent / Prioritized coordination, play/step the run, live metrics.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035040" y="1371600"/>
            <a:ext cx="5486400" cy="4114800"/>
          </a:xfrm>
          <a:prstGeom prst="roundRect">
            <a:avLst>
              <a:gd name="adj" fmla="val 1778"/>
            </a:avLst>
          </a:prstGeom>
          <a:solidFill>
            <a:srgbClr val="F6F9FD"/>
          </a:solidFill>
          <a:ln w="12700">
            <a:solidFill>
              <a:srgbClr val="F6F9FD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217920" y="1508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/ Output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39840" y="5004444"/>
            <a:ext cx="48768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“Warehouse aisles” map, seed 7, 8 agents, A* + Prioritized coordination: 8/8 agents solved, sum of costs 154, makespan 27, 0 conflicts remaining, 169 nodes expanded.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13232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 — GRAPHIC ERA (DEEMED TO BE UNIVERSITY)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11018520" y="6483096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900" dirty="0"/>
          </a:p>
        </p:txBody>
      </p:sp>
      <p:pic>
        <p:nvPicPr>
          <p:cNvPr id="14" name="Prototype screenshot" descr="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9840" y="1879600"/>
            <a:ext cx="4876800" cy="30740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92608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TESTING, RESULTS &amp; VALIDATION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841248"/>
            <a:ext cx="10744200" cy="16459"/>
          </a:xfrm>
          <a:prstGeom prst="rect">
            <a:avLst/>
          </a:prstGeom>
          <a:solidFill>
            <a:srgbClr val="1C3D68"/>
          </a:solidFill>
          <a:ln w="12700">
            <a:solidFill>
              <a:srgbClr val="1C3D68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tmp/pbl2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4" y="146304"/>
            <a:ext cx="932688" cy="932688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80160"/>
          <a:ext cx="10835640" cy="283464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3611880"/>
                <a:gridCol w="1463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Test / Module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Expected Result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Observed Result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6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D37"/>
                          </a:solidFill>
                        </a:rPr>
                        <a:t>BFS vs Dijkstra vs A* (10x10 grid, single agent)</a:t>
                      </a:r>
                      <a:endParaRPr lang="en-US" sz="9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62D37"/>
                          </a:solidFill>
                        </a:rPr>
                        <a:t>A* visits fewer nodes than BFS/Dijkstra for the same optimal path.</a:t>
                      </a:r>
                      <a:endParaRPr lang="en-US" sz="9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62D37"/>
                          </a:solidFill>
                        </a:rPr>
                        <a:t>A* expanded ~40% fewer nodes than BFS; matched Dijkstra's optimal path length.</a:t>
                      </a:r>
                      <a:endParaRPr lang="en-US" sz="9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3D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D37"/>
                          </a:solidFill>
                        </a:rPr>
                        <a:t>Vertex conflict detection (2 agents, crossing paths)</a:t>
                      </a:r>
                      <a:endParaRPr lang="en-US" sz="9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62D37"/>
                          </a:solidFill>
                        </a:rPr>
                        <a:t>Conflict flagged before the collision occurs.</a:t>
                      </a:r>
                      <a:endParaRPr lang="en-US" sz="9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62D37"/>
                          </a:solidFill>
                        </a:rPr>
                        <a:t>Conflict correctly detected and logged at the predicted time step.</a:t>
                      </a:r>
                      <a:endParaRPr lang="en-US" sz="9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3D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D37"/>
                          </a:solidFill>
                        </a:rPr>
                        <a:t>Priority-based resolution (3 agents, 1 blocked path)</a:t>
                      </a:r>
                      <a:endParaRPr lang="en-US" sz="9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62D37"/>
                          </a:solidFill>
                        </a:rPr>
                        <a:t>Lower-priority agent waits or reroutes.</a:t>
                      </a:r>
                      <a:endParaRPr lang="en-US" sz="9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62D37"/>
                          </a:solidFill>
                        </a:rPr>
                        <a:t>Agent waited one step, then rerouted successfully.</a:t>
                      </a:r>
                      <a:endParaRPr lang="en-US" sz="9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F7A3D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262D37"/>
                          </a:solidFill>
                        </a:rPr>
                        <a:t>Dynamic replanning (path blocked mid-route, 4+ agents)</a:t>
                      </a:r>
                      <a:endParaRPr lang="en-US" sz="9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62D37"/>
                          </a:solidFill>
                        </a:rPr>
                        <a:t>Agent recomputes a valid path to goal.</a:t>
                      </a:r>
                      <a:endParaRPr lang="en-US" sz="9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62D37"/>
                          </a:solidFill>
                        </a:rPr>
                        <a:t>Partial success on small grids; large-grid case still being tuned.</a:t>
                      </a:r>
                      <a:endParaRPr lang="en-US" sz="9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8860B"/>
                          </a:solidFill>
                        </a:rPr>
                        <a:t>In Progress</a:t>
                      </a:r>
                      <a:endParaRPr lang="en-US" sz="100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85800" y="4343400"/>
            <a:ext cx="10835640" cy="1920240"/>
          </a:xfrm>
          <a:prstGeom prst="roundRect">
            <a:avLst>
              <a:gd name="adj" fmla="val 3810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 txBox="1"/>
          <p:nvPr/>
        </p:nvSpPr>
        <p:spPr>
          <a:xfrm>
            <a:off x="868680" y="446227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/ Validation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4800600"/>
            <a:ext cx="1046988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length and execution time are logged per algorithm per run; conflict count and replanning count are tracked per test scenario. Success rate on the current test suite (small/medium grids, 2–4 agents) is approximately 85%, with the remaining failures traced to the large-grid dynamic-replanning case above — the main item carried into Phase-III. In the frontend demo run (8 agents, Warehouse aisles map, A* + Prioritized), all 8 agents were solved with 0 conflicts remaining.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13232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 — GRAPHIC ERA (DEEMED TO BE UNIVERSITY)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11018520" y="6483096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92608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 &amp; DEVELOPMENT ACTIVITY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841248"/>
            <a:ext cx="10744200" cy="16459"/>
          </a:xfrm>
          <a:prstGeom prst="rect">
            <a:avLst/>
          </a:prstGeom>
          <a:solidFill>
            <a:srgbClr val="1C3D68"/>
          </a:solidFill>
          <a:ln w="12700">
            <a:solidFill>
              <a:srgbClr val="1C3D68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tmp/pbl2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4" y="146304"/>
            <a:ext cx="932688" cy="9326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" y="1280160"/>
            <a:ext cx="5257800" cy="2743200"/>
          </a:xfrm>
          <a:prstGeom prst="roundRect">
            <a:avLst>
              <a:gd name="adj" fmla="val 2667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868680" y="14173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Information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1828800"/>
            <a:ext cx="4892040" cy="2103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GitHub Link: github.com/ayushirautela123/Simulator-for-Path-Planning-of-Multi-Agent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README.md: present with the project description; setup and build steps to be added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commits: 4 on the main branch (07 Sep – 10 Oct 2026)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Contributors: 1 active account (ayushirautela123); Krishna Mandal and Suryansh Shah to be added and commit from their own accounts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Branches: main only (module branches to be created)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172200" y="1280160"/>
            <a:ext cx="5349240" cy="2743200"/>
          </a:xfrm>
          <a:prstGeom prst="roundRect">
            <a:avLst>
              <a:gd name="adj" fmla="val 2667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355080" y="14173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Activity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5080" y="1828800"/>
            <a:ext cx="4983480" cy="21031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Sep 2026 — Initial commit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Sep 2026 — Presentation of our PBL Multi Agent Path Planning Simulator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Oct 2026 — FRONTEND HTML FILES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Oct 2026 — Add files via upload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contents: README.md, html_frontend.txt (frontend prototype), PBL_Multi_Agent_Path_Planning.pptx, TeamAFK_PhaseII_Evaluation.pptx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4206240"/>
            <a:ext cx="10835640" cy="1828800"/>
          </a:xfrm>
          <a:prstGeom prst="roundRect">
            <a:avLst>
              <a:gd name="adj" fmla="val 4000"/>
            </a:avLst>
          </a:prstGeom>
          <a:solidFill>
            <a:srgbClr val="F6F9FD"/>
          </a:solidFill>
          <a:ln w="12700">
            <a:solidFill>
              <a:srgbClr val="F6F9F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10469880" cy="1554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Requirement: All team members must be contributors and must commit individually using their own GitHub accounts.</a:t>
            </a:r>
            <a:endParaRPr lang="en-US" sz="1050" dirty="0"/>
          </a:p>
          <a:p>
            <a:pPr algn="l" indent="0" marL="0">
              <a:buNone/>
            </a:pP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and next steps: the repository currently shows 4 commits, all from one account. Before Phase-III, Krishna and Suryansh will be added as collaborators and push their own modules (planners / conflict detection; UI / tests / documentation) with individual commits; the C++ source modules and the README setup/build steps will be added to the repository. Repository activity, README and commit history will be shown live during the presentation.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713232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 — GRAPHIC ERA (DEEMED TO BE UNIVERSITY)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1018520" y="6483096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92608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CONTRIBUTION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841248"/>
            <a:ext cx="10744200" cy="16459"/>
          </a:xfrm>
          <a:prstGeom prst="rect">
            <a:avLst/>
          </a:prstGeom>
          <a:solidFill>
            <a:srgbClr val="1C3D68"/>
          </a:solidFill>
          <a:ln w="12700">
            <a:solidFill>
              <a:srgbClr val="1C3D68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tmp/pbl2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4" y="146304"/>
            <a:ext cx="932688" cy="932688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371600"/>
          <a:ext cx="10835640" cy="26416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5486400"/>
                <a:gridCol w="1783080"/>
              </a:tblGrid>
              <a:tr h="660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Member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Technical Contribution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GitHub Commits (as of 18 Oct 2026)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68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D37"/>
                          </a:solidFill>
                        </a:rPr>
                        <a:t>Ayushi Rautela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D37"/>
                          </a:solidFill>
                        </a:rPr>
                        <a:t>Team / Integration Lead</a:t>
                      </a:r>
                      <a:endParaRPr lang="en-US" sz="9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D37"/>
                          </a:solidFill>
                        </a:rPr>
                        <a:t>Designed the OOP architecture (Agent, Environment, Planner, ConflictResolver classes); implemented module integration and exception/file-handling for config load &amp; save.</a:t>
                      </a:r>
                      <a:endParaRPr lang="en-US" sz="9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i="0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D37"/>
                          </a:solidFill>
                        </a:rPr>
                        <a:t>Krishna Mandal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D37"/>
                          </a:solidFill>
                        </a:rPr>
                        <a:t>DSA Lead</a:t>
                      </a:r>
                      <a:endParaRPr lang="en-US" sz="9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D37"/>
                          </a:solidFill>
                        </a:rPr>
                        <a:t>Implemented the BFS, Dijkstra and A* planners and the hashing-based conflict detection (vertex + edge/swap conflicts).</a:t>
                      </a:r>
                      <a:endParaRPr lang="en-US" sz="9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i="0" dirty="0">
                          <a:solidFill>
                            <a:srgbClr val="222222"/>
                          </a:solidFill>
                        </a:rPr>
                        <a:t>0 — to be pushed</a:t>
                      </a:r>
                      <a:endParaRPr lang="en-US" sz="9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</a:tr>
              <a:tr h="660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D37"/>
                          </a:solidFill>
                        </a:rPr>
                        <a:t>Suryansh Shah</a:t>
                      </a:r>
                      <a:endParaRPr lang="en-US" sz="10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D37"/>
                          </a:solidFill>
                        </a:rPr>
                        <a:t>UI / Testing / Documentation Lead</a:t>
                      </a:r>
                      <a:endParaRPr lang="en-US" sz="9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D37"/>
                          </a:solidFill>
                        </a:rPr>
                        <a:t>Built the UI for grid/agent visualization; wrote test cases and validation scripts; maintained README/documentation.</a:t>
                      </a:r>
                      <a:endParaRPr lang="en-US" sz="9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i="0" dirty="0">
                          <a:solidFill>
                            <a:srgbClr val="222222"/>
                          </a:solidFill>
                        </a:rPr>
                        <a:t>0 — to be pushed</a:t>
                      </a:r>
                      <a:endParaRPr lang="en-US" sz="950" dirty="0"/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D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85800" y="4892040"/>
            <a:ext cx="10835640" cy="1188720"/>
          </a:xfrm>
          <a:prstGeom prst="roundRect">
            <a:avLst>
              <a:gd name="adj" fmla="val 6154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7" name="Text 3"/>
          <p:cNvSpPr txBox="1"/>
          <p:nvPr/>
        </p:nvSpPr>
        <p:spPr>
          <a:xfrm>
            <a:off x="868680" y="501091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Evaluation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68680" y="5349240"/>
            <a:ext cx="10469880" cy="640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member should be prepared to explain and demonstrate their own technical contribution live, with specific code/module references — not generic statements such as “helped in coding” or “worked on documentation”.</a:t>
            </a:r>
            <a:endParaRPr lang="en-US" sz="1050" dirty="0"/>
          </a:p>
        </p:txBody>
      </p:sp>
      <p:sp>
        <p:nvSpPr>
          <p:cNvPr id="8" name="Commit note"/>
          <p:cNvSpPr txBox="1"/>
          <p:nvPr/>
        </p:nvSpPr>
        <p:spPr>
          <a:xfrm>
            <a:off x="685800" y="4191000"/>
            <a:ext cx="10833100" cy="508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total: 4 commits (all from the account ayushirautela123). Krishna and Suryansh will commit their modules from their own GitHub accounts so that individual contribution is visible per member.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713232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 — GRAPHIC ERA (DEEMED TO BE UNIVERSITY)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11018520" y="6483096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13/15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92608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CHALLENGES, REMAINING WORK &amp; PHASE-III ROADMAP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841248"/>
            <a:ext cx="10744200" cy="16459"/>
          </a:xfrm>
          <a:prstGeom prst="rect">
            <a:avLst/>
          </a:prstGeom>
          <a:solidFill>
            <a:srgbClr val="1C3D68"/>
          </a:solidFill>
          <a:ln w="12700">
            <a:solidFill>
              <a:srgbClr val="1C3D68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tmp/pbl2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4" y="146304"/>
            <a:ext cx="932688" cy="9326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" y="1280160"/>
            <a:ext cx="5257800" cy="2377440"/>
          </a:xfrm>
          <a:prstGeom prst="roundRect">
            <a:avLst>
              <a:gd name="adj" fmla="val 3077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868680" y="14173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1783080"/>
            <a:ext cx="48920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Resolving edge/swap conflicts cleanly across varying priority schemes without deadlocking agents.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Synchronizing discrete time-step movement across Planning, Coordination and Conflict modules without race conditions.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 full dynamic-replanning cost against real-time performance on larger grids.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172200" y="128016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355080" y="14173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/ Learning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5080" y="1783080"/>
            <a:ext cx="498348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a strict step-wise commit protocol: conflicts are checked and resolved before any agent's position updates for that time step.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 conflict resolution into its own ConflictResolver class, reducing coupling with the planner and easing debugging.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840480"/>
            <a:ext cx="10835640" cy="2286000"/>
          </a:xfrm>
          <a:prstGeom prst="roundRect">
            <a:avLst>
              <a:gd name="adj" fmla="val 3200"/>
            </a:avLst>
          </a:prstGeom>
          <a:solidFill>
            <a:srgbClr val="F6F9FD"/>
          </a:solidFill>
          <a:ln w="12700">
            <a:solidFill>
              <a:srgbClr val="F6F9F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868680" y="39593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Phase-III Roadmap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315968"/>
            <a:ext cx="10332720" cy="1737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dynamic replanning for larger, denser grids.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full multi-agent integration across Planning, Coordination and Conflict modules.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and optimization across larger agent counts and grid sizes.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visualization and metrics dashboard and push all modules to GitHub with individual member commits.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10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documentation and the project report.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13232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 — GRAPHIC ERA (DEEMED TO BE UNIVERSITY)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11018520" y="6483096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92608"/>
            <a:ext cx="10698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 &amp; REFERENCES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841248"/>
            <a:ext cx="10744200" cy="16459"/>
          </a:xfrm>
          <a:prstGeom prst="rect">
            <a:avLst/>
          </a:prstGeom>
          <a:solidFill>
            <a:srgbClr val="1C3D68"/>
          </a:solidFill>
          <a:ln w="12700">
            <a:solidFill>
              <a:srgbClr val="1C3D68"/>
            </a:solidFill>
            <a:prstDash val="solid"/>
          </a:ln>
        </p:spPr>
        <p:txBody>
          <a:bodyPr/>
          <a:p/>
        </p:txBody>
      </p:sp>
      <p:pic>
        <p:nvPicPr>
          <p:cNvPr id="4" name="Image 0" descr="/tmp/pbl2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19104" y="146304"/>
            <a:ext cx="932688" cy="9326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800" y="1280160"/>
            <a:ext cx="5257800" cy="3566160"/>
          </a:xfrm>
          <a:prstGeom prst="roundRect">
            <a:avLst>
              <a:gd name="adj" fmla="val 2051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868680" y="14173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Final Outcomes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1783080"/>
            <a:ext cx="4892040" cy="3017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working multi-agent path-planning simulator (desktop/interactive app).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 technical results: path length, execution time, conflict count, replanning count and success rate across BFS, Dijkstra and A*.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/ industry applicability: warehouse robotics, airport ground traffic, drone fleets, autonomous vehicle routing.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/ scalability potential: modular design, with the flagged future ML module for congestion prediction.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10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/ publication potential: grounded directly in published MAPF literature (CBS, standardized MAPF benchmarks).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172200" y="1280160"/>
            <a:ext cx="5349240" cy="3566160"/>
          </a:xfrm>
          <a:prstGeom prst="roundRect">
            <a:avLst>
              <a:gd name="adj" fmla="val 2051"/>
            </a:avLst>
          </a:prstGeom>
          <a:solidFill>
            <a:srgbClr val="EBF2FA"/>
          </a:solidFill>
          <a:ln w="12700">
            <a:solidFill>
              <a:srgbClr val="EBF2F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355080" y="14173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5080" y="1783080"/>
            <a:ext cx="5029200" cy="3017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9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Thareja — Data Structures Using C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9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Balagurusamy — Object Oriented Programming with C++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9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Cormen et al. — Introduction to Algorithms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9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Hart, Nilsson &amp; Raphael — A Formal Basis for the Heuristic Determination of Minimum Cost Paths (1968)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9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Sharon, Stern, Felner &amp; Sturtevant — Conflict-Based Search for Optimal Multi-Agent Pathfinding (2015)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9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Stern et al. — Multi-Agent Pathfinding: Definitions, Variants, and Benchmarks (2019)</a:t>
            </a:r>
            <a:endParaRPr lang="en-US" sz="950" dirty="0"/>
          </a:p>
          <a:p>
            <a:pPr marL="177800" indent="-177800">
              <a:spcAft>
                <a:spcPts val="800"/>
              </a:spcAft>
              <a:buSzPct val="100000"/>
              <a:buChar char="▶"/>
            </a:pPr>
            <a:r>
              <a:rPr lang="en-US" sz="950" dirty="0">
                <a:solidFill>
                  <a:srgbClr val="262D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6 Documentation — Qt Widgets and Layouts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85800" y="5029200"/>
            <a:ext cx="10835640" cy="1097280"/>
          </a:xfrm>
          <a:prstGeom prst="roundRect">
            <a:avLst>
              <a:gd name="adj" fmla="val 6667"/>
            </a:avLst>
          </a:prstGeom>
          <a:solidFill>
            <a:srgbClr val="F6F9FD"/>
          </a:solidFill>
          <a:ln w="12700">
            <a:solidFill>
              <a:srgbClr val="F6F9F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868680" y="5166360"/>
            <a:ext cx="10469880" cy="8229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&amp; Suggestions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" y="6492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 &amp; ENGINEERING — GRAPHIC ERA (DEEMED TO BE UNIVERSITY)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1018520" y="6483096"/>
            <a:ext cx="5029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Graphic Era (Deemed to be University)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TeamAFK</dc:creator>
  <cp:lastModifiedBy>TeamAFK</cp:lastModifiedBy>
  <cp:revision>1</cp:revision>
  <dcterms:created xsi:type="dcterms:W3CDTF">2026-10-10T05:24:44Z</dcterms:created>
  <dcterms:modified xsi:type="dcterms:W3CDTF">2026-10-10T05:24:44Z</dcterms:modified>
</cp:coreProperties>
</file>